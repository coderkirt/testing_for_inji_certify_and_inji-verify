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automated the most painful, manual part of digital-credential compliance: proving that MOSIP's issuer and verifier actually speak OpenID4VCI and OpenID4VP correctly — with a single command, in CI, with MOSIP's own TestNG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gap between "the suite exists" and "the suite runs on every commit." Judges from MOSIP will recognize api-testrig and the pain of keeping Inji modules release-ready.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"compliance as code" — the same shift CI brought to unit testing, applied to standards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principle to say out loud: "We implement no OpenID protocol tests ourselves." All protocol logic stays in the official suite; we orchestrate, map, and gate. That keeps the harness trustworthy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 this exact script for the 2–5 min Video Demo deliverable. Screen-record the Extent report — it is the visual proof that maps to MOSIP's reporting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deliberate boundaries: "orchestration only" — protocol logic in the OIDF suite, reporting in MOSIP api-testrig conventions. This is what makes it a drop-in, not a fork.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reproducibility: pinned image tags, healthchecks with start periods on every service, and committed plan templates — anyone can re-run the exact same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"Deterministic variant selection from JSON" matters — wrong variants clicked in the UI masquerade as product bugs. We made that class of mistake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hardest problem in OpenID4VP testing — everyone demos this with a human holding a phone. Automating the handshake is what makes CI conformance possible at all. Lead with this slide if short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found and precisely documented two real spec-drift gaps in the current Inji images. That is the harness already paying for itself — it converts "the test failed" into "here is exactly which spec clause diverges."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"why not just write more tests?" — because it plugs conformance into the exact reporting MOSIP teams review every day. Adoption friction is approximately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MOSIP Decode judges care about standards alignment — this slide says the project IS the standards-alignment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"Test Cases and Results" deliverable: attach a sample results.json + Extent report screenshot + a diff.json. The benchmark gate output (benchmarkMet, reasons) is itself a test-case summary a jury can read in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README + docs + troubleshooting satisfy the "Usage and Installation Instructions" and "API Documentation" guidelines — jury members can evaluate independently, including on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items 2 and 3 are direct payoff slides — the harness already tells MOSIP exactly what to fix to reach full 1.0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the guidelines: MOSIP platform team, Inji module maintainers, OpenID Foundation certification community, and any government deploying wallet-based credential ecosystems.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Repository link is final: github.com/coderkirt/Testing_for_inji_certify_and_inji-verify. Replace the demo-video link before submitting. Close on the governance story: honest results, official suite,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Oval 5"/>
          <p:cNvSpPr/>
          <p:nvPr/>
        </p:nvSpPr>
        <p:spPr>
          <a:xfrm>
            <a:off x="9509760" y="-731520"/>
            <a:ext cx="4206240" cy="4206240"/>
          </a:xfrm>
          <a:prstGeom prst="ellipse">
            <a:avLst/>
          </a:prstGeom>
          <a:solidFill>
            <a:srgbClr val="0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Oval 6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77724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2D3EE"/>
                </a:solidFill>
                <a:latin typeface="Arial"/>
              </a:rPr>
              <a:t>MOSIP DECODE 2026  ·  TRACK: DIGITAL CREDENTIAL TRUST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Arial"/>
              </a:rPr>
              <a:t>AutoConform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>
                <a:solidFill>
                  <a:srgbClr val="BFD5EE"/>
                </a:solidFill>
                <a:latin typeface="Arial"/>
              </a:rPr>
              <a:t>One-Command OpenID Conformance Testing for Inji Certify &amp; Inji Verify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7368" y="3611880"/>
            <a:ext cx="4023359" cy="0"/>
          </a:xfrm>
          <a:prstGeom prst="line">
            <a:avLst/>
          </a:prstGeom>
          <a:ln w="19050">
            <a:solidFill>
              <a:srgbClr val="22D3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95728" y="3977639"/>
            <a:ext cx="2377440" cy="420624"/>
          </a:xfrm>
          <a:prstGeom prst="roundRect">
            <a:avLst/>
          </a:prstGeom>
          <a:solidFill>
            <a:srgbClr val="14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68880" y="3977639"/>
            <a:ext cx="223113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9DC5FA"/>
                </a:solidFill>
                <a:latin typeface="Arial"/>
              </a:rPr>
              <a:t>OpenID4VCI 1.0 · Issuer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3977639"/>
            <a:ext cx="2286000" cy="420624"/>
          </a:xfrm>
          <a:prstGeom prst="roundRect">
            <a:avLst/>
          </a:prstGeom>
          <a:solidFill>
            <a:srgbClr val="14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0" y="3977639"/>
            <a:ext cx="213969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86EFAC"/>
                </a:solidFill>
                <a:latin typeface="Arial"/>
              </a:rPr>
              <a:t>OpenID4VP · HAIP 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3977639"/>
            <a:ext cx="2377440" cy="420624"/>
          </a:xfrm>
          <a:prstGeom prst="roundRect">
            <a:avLst/>
          </a:prstGeom>
          <a:solidFill>
            <a:srgbClr val="14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79" y="3977639"/>
            <a:ext cx="223113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2D3EE"/>
                </a:solidFill>
                <a:latin typeface="Arial"/>
              </a:rPr>
              <a:t>OIDF Conformance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FB8D4"/>
                </a:solidFill>
                <a:latin typeface="Arial"/>
              </a:rPr>
              <a:t>Automated · CI-ready · Built on the official OpenID Foundation Conformance Suite — zero re-invented protocol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Team FSD</a:t>
            </a:r>
          </a:p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8FA6BC"/>
                </a:solidFill>
                <a:latin typeface="Arial"/>
              </a:rPr>
              <a:t>Kirt Raj Dixit · Aditya Upadhyay  ·  Pranveer Singh Institute of Technology, Kanpur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Conformance testing is manual, slow, and invisible to 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97480" cy="228600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2697480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UI-driven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Plans are created by clicking; variants selected by hand; results live in a web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783080"/>
            <a:ext cx="2697480" cy="228600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46704" y="1783080"/>
            <a:ext cx="2697480" cy="685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9584" y="2011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WAITING stalls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51460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Interactive OpenID4VP modules stall in WAITING until a human pastes wallet links.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783080"/>
            <a:ext cx="2697480" cy="228600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269748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73368" y="2011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No CI trigger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51460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Certify and Verify release frequently — nothing re-checks standards compliance on every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1783080"/>
            <a:ext cx="2697480" cy="228600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34272" y="1783080"/>
            <a:ext cx="2697480" cy="6858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17152" y="201168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Reports disconnected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514600"/>
            <a:ext cx="23317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Results never reach the pipeline MOSIP teams already use (api-testrig → TestNG → Extent).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34840"/>
            <a:ext cx="11183112" cy="1554480"/>
          </a:xfrm>
          <a:prstGeom prst="round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02920" y="4434840"/>
            <a:ext cx="11183112" cy="685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645152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91C1C"/>
                </a:solidFill>
                <a:latin typeface="Arial"/>
              </a:rPr>
              <a:t>Consequence: spec drift is discovered 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4748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11827"/>
                </a:solidFill>
                <a:latin typeface="Arial"/>
              </a:rPr>
              <a:t>Real example found by this harness: </a:t>
            </a:r>
            <a:r>
              <a:rPr sz="1250" b="0">
                <a:solidFill>
                  <a:srgbClr val="111827"/>
                </a:solidFill>
                <a:latin typeface="Arial"/>
              </a:rPr>
              <a:t>Certify 0.14 still sends draft-13 </a:t>
            </a:r>
            <a:r>
              <a:rPr sz="1200" b="1">
                <a:solidFill>
                  <a:srgbClr val="111827"/>
                </a:solidFill>
                <a:latin typeface="Consolas"/>
              </a:rPr>
              <a:t>format/vct</a:t>
            </a:r>
            <a:r>
              <a:rPr sz="1250" b="0">
                <a:solidFill>
                  <a:srgbClr val="111827"/>
                </a:solidFill>
                <a:latin typeface="Arial"/>
              </a:rPr>
              <a:t> fields against the OID4VCI 1.0 </a:t>
            </a:r>
            <a:r>
              <a:rPr sz="1200" b="1">
                <a:solidFill>
                  <a:srgbClr val="111827"/>
                </a:solidFill>
                <a:latin typeface="Consolas"/>
              </a:rPr>
              <a:t>credential_configuration_id</a:t>
            </a:r>
            <a:r>
              <a:rPr sz="1250" b="0">
                <a:solidFill>
                  <a:srgbClr val="111827"/>
                </a:solidFill>
                <a:latin typeface="Arial"/>
              </a:rPr>
              <a:t> endpoint — and Verify 0.18.2 speaks OpenID4VP draft 21, not HAIP 1.0 Final.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The cost of non-conformance is ecosystem-wide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83112" cy="950976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1031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4ED8"/>
                </a:solidFill>
                <a:latin typeface="Arial"/>
              </a:rPr>
              <a:t>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85039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  <a:latin typeface="Arial"/>
              </a:rPr>
              <a:t>One non-conformant field breaks issuer ↔ verifier interoperability across the whole credential ecosystem.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62072"/>
            <a:ext cx="11183112" cy="950976"/>
          </a:xfrm>
          <a:prstGeom prst="roundRect">
            <a:avLst/>
          </a:prstGeom>
          <a:solidFill>
            <a:srgbClr val="FB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21031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45309"/>
                </a:solidFill>
                <a:latin typeface="Arial"/>
              </a:rP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62072"/>
            <a:ext cx="85039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  <a:latin typeface="Arial"/>
              </a:rPr>
              <a:t>A manual conformance sweep takes hours of expert time per release; regressions found late are the most expensive kind.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41063"/>
            <a:ext cx="11183112" cy="950976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941063"/>
            <a:ext cx="21031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59669"/>
                </a:solidFill>
                <a:latin typeface="Arial"/>
              </a:rPr>
              <a:t>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41063"/>
            <a:ext cx="85039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  <a:latin typeface="Arial"/>
              </a:rPr>
              <a:t>OpenID self-certification needs exact plan + variant runs and exported evidence — today assembled by hand.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20056"/>
            <a:ext cx="11183112" cy="950976"/>
          </a:xfrm>
          <a:prstGeom prst="roundRect">
            <a:avLst/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21031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2A4A"/>
                </a:solidFill>
                <a:latin typeface="Arial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20056"/>
            <a:ext cx="850392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827"/>
                </a:solidFill>
                <a:latin typeface="Arial"/>
              </a:rPr>
              <a:t>MOSIP-based ID systems serve 500M+ people; Inji wallet ecosystems depend on issuer ↔ verifier interop.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Arial"/>
              </a:rPr>
              <a:t>The shift: compliance as code — the same move CI made for unit testing, applied to standards conformance.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AutoConform = Docker stack + runner + TestNG bridge in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298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One command: ./scripts/run-conformance.sh --combined   (Windows: .\scripts\run-conformance.ps1 -Combined)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486400" cy="19202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548640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0756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Full-stack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7802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Official OIDF suite + Inji Certify 0.14 + Inji Verify 0.18.2 on one Docker network — 7 services, healthchecked.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55848"/>
            <a:ext cx="1901952" cy="329184"/>
          </a:xfrm>
          <a:prstGeom prst="round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355848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docker compose up -d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874519"/>
            <a:ext cx="5486400" cy="19202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90488" y="1874519"/>
            <a:ext cx="548640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19088" y="20756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Orchestration-only runner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7802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Drives the suite REST API exactly like the official run-test-plan.py — create → run → poll → export — fully unattended.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3355848"/>
            <a:ext cx="2242108" cy="329184"/>
          </a:xfrm>
          <a:prstGeom prst="round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92240" y="3355848"/>
            <a:ext cx="20958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Python · httpx · 826 LOC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59352"/>
            <a:ext cx="5486400" cy="19202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02920" y="3959352"/>
            <a:ext cx="5486400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Automated WAITING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62856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When the suite waits for a wallet, the runner acts as the wallet: delivers credential offers and VP authorization requests.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80"/>
            <a:ext cx="1901952" cy="329184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672" y="5440680"/>
            <a:ext cx="17556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No human in the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959352"/>
            <a:ext cx="5486400" cy="192024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90488" y="3959352"/>
            <a:ext cx="548640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19088" y="4160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A4A"/>
                </a:solidFill>
                <a:latin typeface="Arial"/>
              </a:rPr>
              <a:t>MOSIP-native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562856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Every suite module becomes a TestNG test → Extent Spark report → benchmark gate fails the build on regressions.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9088" y="5440680"/>
            <a:ext cx="2157069" cy="329184"/>
          </a:xfrm>
          <a:prstGeom prst="round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92240" y="5440680"/>
            <a:ext cx="201076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api-testrig conventions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WORKING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Live end-to-end run — about 4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Oval 6"/>
          <p:cNvSpPr/>
          <p:nvPr/>
        </p:nvSpPr>
        <p:spPr>
          <a:xfrm>
            <a:off x="566928" y="1783080"/>
            <a:ext cx="512064" cy="51206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796795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Arial"/>
              </a:rPr>
              <a:t>Boot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796795"/>
            <a:ext cx="8869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./scripts/run-conformance.sh --component certify — compose pulls up the stack; suite becomes healthy.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295144"/>
            <a:ext cx="0" cy="237744"/>
          </a:xfrm>
          <a:prstGeom prst="line">
            <a:avLst/>
          </a:prstGeom>
          <a:ln w="12700">
            <a:solidFill>
              <a:srgbClr val="9A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6928" y="2532888"/>
            <a:ext cx="512064" cy="51206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2532888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546604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Arial"/>
              </a:rPr>
              <a:t>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46604"/>
            <a:ext cx="8869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Runner creates oid4vci-1_0-issuer-test-plan via REST; modules start executing.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044952"/>
            <a:ext cx="0" cy="237744"/>
          </a:xfrm>
          <a:prstGeom prst="line">
            <a:avLst/>
          </a:prstGeom>
          <a:ln w="12700">
            <a:solidFill>
              <a:srgbClr val="9A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66928" y="3282696"/>
            <a:ext cx="512064" cy="51206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32826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296412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59669"/>
                </a:solidFill>
                <a:latin typeface="Arial"/>
              </a:rPr>
              <a:t>WOW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296412"/>
            <a:ext cx="8869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Module hits WAITING → runner calls Certify pre-authorized-data with farmer claims → fetches credential offer → delivers it to the suite → module resumes and PASSES with no human.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3794760"/>
            <a:ext cx="0" cy="237744"/>
          </a:xfrm>
          <a:prstGeom prst="line">
            <a:avLst/>
          </a:prstGeom>
          <a:ln w="12700">
            <a:solidFill>
              <a:srgbClr val="9A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66928" y="4032504"/>
            <a:ext cx="512064" cy="51206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66928" y="4032504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0462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59669"/>
                </a:solidFill>
                <a:latin typeface="Arial"/>
              </a:rPr>
              <a:t>Verify side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046220"/>
            <a:ext cx="8869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Runner creates a VP request, rewrites it to the suite authorize endpoint, hands it to the fake wallet.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544568"/>
            <a:ext cx="0" cy="237744"/>
          </a:xfrm>
          <a:prstGeom prst="line">
            <a:avLst/>
          </a:prstGeom>
          <a:ln w="12700">
            <a:solidFill>
              <a:srgbClr val="9A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66928" y="4782312"/>
            <a:ext cx="512064" cy="512064"/>
          </a:xfrm>
          <a:prstGeom prst="ellipse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4782312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796027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A4A"/>
                </a:solidFill>
                <a:latin typeface="Arial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796027"/>
            <a:ext cx="8869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Summary JSON → Extent Spark report with per-module results → benchmark gate evaluation.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5294375"/>
            <a:ext cx="0" cy="237745"/>
          </a:xfrm>
          <a:prstGeom prst="line">
            <a:avLst/>
          </a:prstGeom>
          <a:ln w="12700">
            <a:solidFill>
              <a:srgbClr val="9AA2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66928" y="5532120"/>
            <a:ext cx="512064" cy="51206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" y="553212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545836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B45309"/>
                </a:solidFill>
                <a:latin typeface="Arial"/>
              </a:rPr>
              <a:t>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545836"/>
            <a:ext cx="8869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Same run green on GitHub Actions; artifacts (results.json + HTML export zips) uploaded.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Three clean layers — infrastructure, orchestration,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83112" cy="1481328"/>
          </a:xfrm>
          <a:prstGeom prst="roundRect">
            <a:avLst/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2A4A"/>
                </a:solidFill>
                <a:latin typeface="Arial"/>
              </a:rPr>
              <a:t>INFRASTRUCTURE · 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5798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B5563"/>
                </a:solidFill>
                <a:latin typeface="Arial"/>
              </a:rPr>
              <a:t>inji-openid-conformance network — 7 services, pinned images, healthchecks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87168"/>
            <a:ext cx="3474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9536" y="2542032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OIDF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88920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Arial"/>
              </a:rPr>
              <a:t>mongodb · server · nginx :8443 (alias localhost.emobix.co.uk)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487168"/>
            <a:ext cx="3474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98848" y="2542032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59669"/>
                </a:solidFill>
                <a:latin typeface="Arial"/>
              </a:rPr>
              <a:t>Inji Certify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788920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Arial"/>
              </a:rPr>
              <a:t>certify · certify-nginx · postgres 15  (v0.14.0)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487168"/>
            <a:ext cx="3474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0" y="2542032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59669"/>
                </a:solidFill>
                <a:latin typeface="Arial"/>
              </a:rPr>
              <a:t>Inji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3246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Arial"/>
              </a:rPr>
              <a:t>verify-service · verify-ui · postgres 13  (v0.18.2)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3264408"/>
            <a:ext cx="0" cy="347472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3264408"/>
            <a:ext cx="0" cy="347472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" y="3611880"/>
            <a:ext cx="11183112" cy="1517904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" y="3611880"/>
            <a:ext cx="11183112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1520" y="373075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2A4A"/>
                </a:solidFill>
                <a:latin typeface="Arial"/>
              </a:rPr>
              <a:t>ORCHESTRATION · runner/run_conformance.py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4164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Consolas"/>
              </a:rPr>
              <a:t>oidf_client.py  </a:t>
            </a:r>
            <a:r>
              <a:rPr sz="1050" b="0">
                <a:solidFill>
                  <a:srgbClr val="4B5563"/>
                </a:solidFill>
                <a:latin typeface="Arial"/>
              </a:rPr>
              <a:t>REST: POST /api/plan → POST /api/runner → poll /api/info → exporthtml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41648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Consolas"/>
              </a:rPr>
              <a:t>config_render.py  </a:t>
            </a:r>
            <a:r>
              <a:rPr sz="1050" b="0">
                <a:solidFill>
                  <a:srgbClr val="4B5563"/>
                </a:solidFill>
                <a:latin typeface="Arial"/>
              </a:rPr>
              <a:t>renders ${CERTIFY_ISSUER_URL} / ${VERIFY_ENDPOINT} into committed plan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Consolas"/>
              </a:rPr>
              <a:t>WAITING handoffs  </a:t>
            </a:r>
            <a:r>
              <a:rPr sz="1050" b="0">
                <a:solidFill>
                  <a:srgbClr val="4B5563"/>
                </a:solidFill>
                <a:latin typeface="Arial"/>
              </a:rPr>
              <a:t>credential offer (Certify) · VP authz request (Verify) — automated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572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Consolas"/>
              </a:rPr>
              <a:t>outputs  </a:t>
            </a:r>
            <a:r>
              <a:rPr sz="1050" b="0">
                <a:solidFill>
                  <a:srgbClr val="4B5563"/>
                </a:solidFill>
                <a:latin typeface="Arial"/>
              </a:rPr>
              <a:t>results.json + suite HTML export zip (certification evidence)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77440" y="5129784"/>
            <a:ext cx="0" cy="338328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" y="5468112"/>
            <a:ext cx="11183112" cy="896112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02920" y="5468112"/>
            <a:ext cx="11183112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31520" y="55595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A2A4A"/>
                </a:solidFill>
                <a:latin typeface="Arial"/>
              </a:rPr>
              <a:t>REPORTING · testrig-bridge (Java/TestNG, io.mosip.testrig.apirig.openid)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59669"/>
                </a:solidFill>
                <a:latin typeface="Consolas"/>
              </a:rPr>
              <a:t>OpenIDConformanceTest</a:t>
            </a:r>
            <a:r>
              <a:rPr sz="1050" b="0">
                <a:solidFill>
                  <a:srgbClr val="4B5563"/>
                </a:solidFill>
                <a:latin typeface="Arial"/>
              </a:rPr>
              <a:t>  1 test per suite module   ·   </a:t>
            </a:r>
            <a:r>
              <a:rPr sz="1100" b="1">
                <a:solidFill>
                  <a:srgbClr val="059669"/>
                </a:solidFill>
                <a:latin typeface="Consolas"/>
              </a:rPr>
              <a:t>ResultMapper</a:t>
            </a:r>
            <a:r>
              <a:rPr sz="1050" b="0">
                <a:solidFill>
                  <a:srgbClr val="4B5563"/>
                </a:solidFill>
                <a:latin typeface="Arial"/>
              </a:rPr>
              <a:t>  PASS/FAIL/SKIP + expected   ·   </a:t>
            </a:r>
            <a:r>
              <a:rPr sz="1100" b="1">
                <a:solidFill>
                  <a:srgbClr val="059669"/>
                </a:solidFill>
                <a:latin typeface="Consolas"/>
              </a:rPr>
              <a:t>BenchmarkGate</a:t>
            </a:r>
            <a:r>
              <a:rPr sz="1050" b="0">
                <a:solidFill>
                  <a:srgbClr val="4B5563"/>
                </a:solidFill>
                <a:latin typeface="Arial"/>
              </a:rPr>
              <a:t>  fails build on unexpected failures   ·   </a:t>
            </a:r>
            <a:r>
              <a:rPr sz="1100" b="1">
                <a:solidFill>
                  <a:srgbClr val="059669"/>
                </a:solidFill>
                <a:latin typeface="Consolas"/>
              </a:rPr>
              <a:t>Extent Spark</a:t>
            </a:r>
            <a:r>
              <a:rPr sz="1050" b="0">
                <a:solidFill>
                  <a:srgbClr val="4B5563"/>
                </a:solidFill>
                <a:latin typeface="Arial"/>
              </a:rPr>
              <a:t> 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11155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B5563"/>
                </a:solidFill>
                <a:latin typeface="Arial"/>
              </a:rPr>
              <a:t>Suite nginx aliased to localhost.emobix.co.uk so advertised callback URLs just work; plans use Docker DNS names (http://certify-nginx).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Pinned, reproducible, and auditable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11183112" cy="384048"/>
          </a:xfrm>
          <a:prstGeom prst="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" y="178308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rial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2616" y="1783080"/>
            <a:ext cx="356615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rial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5" y="1783080"/>
            <a:ext cx="52395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Arial"/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1183112" cy="566928"/>
          </a:xfrm>
          <a:prstGeom prst="rect">
            <a:avLst/>
          </a:prstGeom>
          <a:solidFill>
            <a:srgbClr val="F6F9FC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" y="2240280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Orchestration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2240280"/>
            <a:ext cx="35661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Python 3.10+ / httpx — 826 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5" y="2240280"/>
            <a:ext cx="52395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Thin, auditable REST wrapper; official-script parity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07208"/>
            <a:ext cx="111831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0936" y="2807208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Reporting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2807208"/>
            <a:ext cx="35661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Java 11 + Maven, TestNG + Extent — 505 LOC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5" y="2807208"/>
            <a:ext cx="52395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Same reports MOSIP api-testrig already publishes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74136"/>
            <a:ext cx="11183112" cy="566928"/>
          </a:xfrm>
          <a:prstGeom prst="rect">
            <a:avLst/>
          </a:prstGeom>
          <a:solidFill>
            <a:srgbClr val="F6F9FC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0936" y="3374136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2616" y="3374136"/>
            <a:ext cx="35661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Docker Compose — 7 pinned services (Certify 0.14.0, Verify 0.18.2, Mongo 6.0.13, Postgres 15/13)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5" y="3374136"/>
            <a:ext cx="52395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Fully reproducible, zero local installs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941064"/>
            <a:ext cx="111831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0936" y="3941064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Protocol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2616" y="3941064"/>
            <a:ext cx="35661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OpenID Foundation Conformance Suite (prebuilt image)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5" y="3941064"/>
            <a:ext cx="52395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The authoritative source of protocol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507992"/>
            <a:ext cx="11183112" cy="566928"/>
          </a:xfrm>
          <a:prstGeom prst="rect">
            <a:avLst/>
          </a:prstGeom>
          <a:solidFill>
            <a:srgbClr val="F6F9FC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" y="4507992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Entry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42616" y="4507992"/>
            <a:ext cx="35661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Bash + PowerShell — 328 LOC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5" y="4507992"/>
            <a:ext cx="52395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--component certify/verify · --combined · --parallel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111831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0936" y="5074920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42616" y="5074920"/>
            <a:ext cx="35661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GitHub Actions — full-stack-conformance.yml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5" y="5074920"/>
            <a:ext cx="52395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Compose up → conformance → TestNG → artifacts, 120-min budget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641848"/>
            <a:ext cx="11183112" cy="566928"/>
          </a:xfrm>
          <a:prstGeom prst="rect">
            <a:avLst/>
          </a:prstGeom>
          <a:solidFill>
            <a:srgbClr val="F6F9FC"/>
          </a:solidFill>
          <a:ln w="9525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0936" y="5641848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Config as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42616" y="5641848"/>
            <a:ext cx="35661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JSON plans/variants — 9 issuer + 2 verifier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5" y="5641848"/>
            <a:ext cx="52395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Edit JSON, never click the suite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23620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Reproducibility: pinned image tags, healthchecks with start periods on every service, committed plan templates — anyone can re-run the exact same evaluation.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KEY FEATURE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The orchestration engine — official REST flow, unattended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83112" cy="8229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Arial"/>
              </a:rPr>
              <a:t>Official REST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Wait GET /api/plan?length=1 ready → POST /api/plan → GET /api/plan/{id} → POST /api/runner per module → poll GET /api/info/{testId} → exporthtml package.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88336"/>
            <a:ext cx="11183112" cy="822960"/>
          </a:xfrm>
          <a:prstGeom prst="round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688336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Arial"/>
              </a:rPr>
              <a:t>Parallel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88336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--parallel: Certify and Verify plans run concurrently (2 threads); suite modules capped at 4 — wall-clock time cut dramatically.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93591"/>
            <a:ext cx="11183112" cy="8229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593591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Arial"/>
              </a:rPr>
              <a:t>Environment rendering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93591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Committed 1.0 plan templates rendered with environment endpoints — same repo targets local Docker or a deployed environment (ENV_ENDPOINT, same contract as api-testrig).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98848"/>
            <a:ext cx="11183112" cy="822960"/>
          </a:xfrm>
          <a:prstGeom prst="round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498848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Arial"/>
              </a:rPr>
              <a:t>Official escape hatch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98848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--official-script delegates to OIDF run-test-plan.py when a byte-for-byte official run is required.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04104"/>
            <a:ext cx="11183112" cy="8229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404104"/>
            <a:ext cx="2834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Arial"/>
              </a:rPr>
              <a:t>Provenance per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404104"/>
            <a:ext cx="7863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PASS / FAIL / SKIP classified with testId, raw suite status, expected flag and reason — no mystery 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72784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4B5563"/>
                </a:solidFill>
                <a:latin typeface="Arial"/>
              </a:rPr>
              <a:t>"Deterministic variant selection from JSON" — wrong variants clicked in the UI used to masquerade as product bugs. We made that class of mistake impossible.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KEY FEATURE 2 · THE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Automated WAITING handoff — the runner becomes the wallet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86400" cy="301752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59669"/>
                </a:solidFill>
                <a:latin typeface="Arial"/>
              </a:rPr>
              <a:t>ISSUER SIDE · Certify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83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On </a:t>
            </a:r>
            <a:r>
              <a:rPr sz="1200" b="1">
                <a:solidFill>
                  <a:srgbClr val="111827"/>
                </a:solidFill>
                <a:latin typeface="Consolas"/>
              </a:rPr>
              <a:t>WAITING</a:t>
            </a:r>
            <a:r>
              <a:rPr sz="1100" b="0">
                <a:solidFill>
                  <a:srgbClr val="111827"/>
                </a:solidFill>
                <a:latin typeface="Arial"/>
              </a:rPr>
              <a:t>, POST farmer claims (id, fullName, mobile, DOB, gender, farmerID) + tx_code to </a:t>
            </a:r>
            <a:r>
              <a:rPr sz="1050" b="1">
                <a:solidFill>
                  <a:srgbClr val="111827"/>
                </a:solidFill>
                <a:latin typeface="Consolas"/>
              </a:rPr>
              <a:t>/pre-authorized-data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Resolve the credential-offer URI → fetch the offer JSON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Deliver the offer </a:t>
            </a:r>
            <a:r>
              <a:rPr sz="1100" b="1">
                <a:solidFill>
                  <a:srgbClr val="111827"/>
                </a:solidFill>
                <a:latin typeface="Arial"/>
              </a:rPr>
              <a:t>by value</a:t>
            </a:r>
            <a:r>
              <a:rPr sz="1100" b="0">
                <a:solidFill>
                  <a:srgbClr val="111827"/>
                </a:solidFill>
                <a:latin typeface="Arial"/>
              </a:rPr>
              <a:t> to the suite offer endpoint (suite 5.31 rejects http:// offer URIs — worked around)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783080"/>
            <a:ext cx="5486400" cy="3017520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9632" y="1783080"/>
            <a:ext cx="548640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73952" y="19659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Arial"/>
              </a:rPr>
              <a:t>VERIFIER SIDE ·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31720"/>
            <a:ext cx="4983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Create a Verify </a:t>
            </a:r>
            <a:r>
              <a:rPr sz="1050" b="1">
                <a:solidFill>
                  <a:srgbClr val="111827"/>
                </a:solidFill>
                <a:latin typeface="Consolas"/>
              </a:rPr>
              <a:t>vp-request</a:t>
            </a:r>
            <a:r>
              <a:rPr sz="1100" b="0">
                <a:solidFill>
                  <a:srgbClr val="111827"/>
                </a:solidFill>
                <a:latin typeface="Arial"/>
              </a:rPr>
              <a:t> with an SD-JWT presentation definition (DCQL constraints on vct)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Rewrite the request to the suite </a:t>
            </a:r>
            <a:r>
              <a:rPr sz="1050" b="1">
                <a:solidFill>
                  <a:srgbClr val="111827"/>
                </a:solidFill>
                <a:latin typeface="Consolas"/>
              </a:rPr>
              <a:t>authorize</a:t>
            </a:r>
            <a:r>
              <a:rPr sz="1100" b="0">
                <a:solidFill>
                  <a:srgbClr val="111827"/>
                </a:solidFill>
                <a:latin typeface="Arial"/>
              </a:rPr>
              <a:t> endpoint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Complete the presentation against the suite fake wallet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83480"/>
            <a:ext cx="11183112" cy="457200"/>
          </a:xfrm>
          <a:prstGeom prst="roundRect">
            <a:avLst/>
          </a:prstGeom>
          <a:solidFill>
            <a:srgbClr val="FB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6072" y="4983480"/>
            <a:ext cx="110368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B45309"/>
                </a:solidFill>
                <a:latin typeface="Arial"/>
              </a:rPr>
              <a:t>No human in the loop — interactive modules that genuinely cannot run unattended are explicitly skipped via config, never silently 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69280"/>
            <a:ext cx="111831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Host-aware URL rewriting (</a:t>
            </a:r>
            <a:r>
              <a:rPr sz="1100" b="1">
                <a:solidFill>
                  <a:srgbClr val="111827"/>
                </a:solidFill>
                <a:latin typeface="Consolas"/>
              </a:rPr>
              <a:t>_host_reachable_url</a:t>
            </a:r>
            <a:r>
              <a:rPr sz="1100" b="0">
                <a:solidFill>
                  <a:srgbClr val="4B5563"/>
                </a:solidFill>
                <a:latin typeface="Arial"/>
              </a:rPr>
              <a:t> / </a:t>
            </a:r>
            <a:r>
              <a:rPr sz="1100" b="1">
                <a:solidFill>
                  <a:srgbClr val="111827"/>
                </a:solidFill>
                <a:latin typeface="Consolas"/>
              </a:rPr>
              <a:t>_suite_host_url</a:t>
            </a:r>
            <a:r>
              <a:rPr sz="1100" b="0">
                <a:solidFill>
                  <a:srgbClr val="4B5563"/>
                </a:solidFill>
                <a:latin typeface="Arial"/>
              </a:rPr>
              <a:t>) bridges Docker DNS ↔ host-reachable addresses automatically.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This is the hardest problem in OpenID4VP testing — everyone else demos it with a human holding a phone.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KEY FEATURE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Honest results governance — known gaps become data, not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6949440" cy="278892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A"/>
                </a:solidFill>
                <a:latin typeface="Arial"/>
              </a:rPr>
              <a:t>expected-failures.json — 18 documented module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B91C1C"/>
                </a:solidFill>
                <a:latin typeface="Arial"/>
              </a:rPr>
              <a:t>●  7 Certify: </a:t>
            </a:r>
            <a:r>
              <a:rPr sz="1400" b="0">
                <a:solidFill>
                  <a:srgbClr val="111827"/>
                </a:solidFill>
                <a:latin typeface="Arial"/>
              </a:rPr>
              <a:t>draft-13 </a:t>
            </a:r>
            <a:r>
              <a:rPr sz="1050" b="1">
                <a:solidFill>
                  <a:srgbClr val="111827"/>
                </a:solidFill>
                <a:latin typeface="Consolas"/>
              </a:rPr>
              <a:t>format/vct</a:t>
            </a:r>
            <a:r>
              <a:rPr sz="1400" b="0">
                <a:solidFill>
                  <a:srgbClr val="111827"/>
                </a:solidFill>
                <a:latin typeface="Arial"/>
              </a:rPr>
              <a:t> fields vs OID4VCI 1.0 </a:t>
            </a:r>
            <a:r>
              <a:rPr sz="1050" b="1">
                <a:solidFill>
                  <a:srgbClr val="111827"/>
                </a:solidFill>
                <a:latin typeface="Consolas"/>
              </a:rPr>
              <a:t>credential_configuration_id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●  11 Verify: </a:t>
            </a:r>
            <a:r>
              <a:rPr sz="1400" b="0">
                <a:solidFill>
                  <a:srgbClr val="111827"/>
                </a:solidFill>
                <a:latin typeface="Arial"/>
              </a:rPr>
              <a:t>OpenID4VP draft 21 (DID + direct_post) vs HAIP 1.0 Final (x509_hash + request_uri_signed + direct_post.jwt)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0128"/>
            <a:ext cx="6446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Arial"/>
              </a:rPr>
              <a:t>Each entry carries the root cause as a comment. Expected failures surface as </a:t>
            </a:r>
            <a:r>
              <a:rPr sz="1150" b="1">
                <a:solidFill>
                  <a:srgbClr val="111827"/>
                </a:solidFill>
                <a:latin typeface="Arial"/>
              </a:rPr>
              <a:t>TestNG skips with reasons</a:t>
            </a:r>
            <a:r>
              <a:rPr sz="1100" b="0">
                <a:solidFill>
                  <a:srgbClr val="4B5563"/>
                </a:solidFill>
                <a:latin typeface="Arial"/>
              </a:rPr>
              <a:t> — visible, never silently green. Certification discipline: expected-failures must be </a:t>
            </a:r>
            <a:r>
              <a:rPr sz="1150" b="1">
                <a:solidFill>
                  <a:srgbClr val="111827"/>
                </a:solidFill>
                <a:latin typeface="Arial"/>
              </a:rPr>
              <a:t>empty</a:t>
            </a:r>
            <a:r>
              <a:rPr sz="1100" b="0">
                <a:solidFill>
                  <a:srgbClr val="4B5563"/>
                </a:solidFill>
                <a:latin typeface="Arial"/>
              </a:rPr>
              <a:t> for a certification candidate; known issues belong in waivers.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1783080"/>
            <a:ext cx="4023360" cy="2788920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662672" y="1783080"/>
            <a:ext cx="4023360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909560" y="193852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59669"/>
                </a:solidFill>
                <a:latin typeface="Arial"/>
              </a:rPr>
              <a:t>benchmark.json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331720"/>
            <a:ext cx="356616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Fails the build on unexpected failures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Optional minimum pass rate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Required-module list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Unexpected-skip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00600"/>
            <a:ext cx="6949440" cy="1234440"/>
          </a:xfrm>
          <a:prstGeom prst="roundRect">
            <a:avLst/>
          </a:prstGeom>
          <a:solidFill>
            <a:srgbClr val="FB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6949440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45309"/>
                </a:solidFill>
                <a:latin typeface="Arial"/>
              </a:rPr>
              <a:t>result_diff.py — trend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6446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Compare any run against a baseline (results/previous.json) — instantly see new failures, new passes and fixes after a product upgrade.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62672" y="4800600"/>
            <a:ext cx="4023360" cy="1234440"/>
          </a:xfrm>
          <a:prstGeom prst="round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662672" y="4800600"/>
            <a:ext cx="4023360" cy="685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909560" y="4937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B91C1C"/>
                </a:solidFill>
                <a:latin typeface="Arial"/>
              </a:rPr>
              <a:t>Found 2 real spec-drift gaps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257800"/>
            <a:ext cx="3566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11827"/>
                </a:solidFill>
                <a:latin typeface="Arial"/>
              </a:rPr>
              <a:t>The harness is already paying for itself: "test failed" becomes "this exact spec clause diverges."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MOSIP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A drop-in for the pipeline MOSIP already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83112" cy="786384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8580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Same namespace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783080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Bridge classes live under io.mosip.testrig.apirig.openid — same conventions as api-testrig.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60"/>
            <a:ext cx="11183112" cy="786384"/>
          </a:xfrm>
          <a:prstGeom prst="round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68580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Two ways to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OpenIDConformanceTest reads results.json — or launches the Python runner itself using the existing env.endpoint. Testrig suites gain conformance checks with no new infrastructure.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39"/>
            <a:ext cx="11183112" cy="786384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520439"/>
            <a:ext cx="68580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520439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Per-component suites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520439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testng-certify.xml · testng-verify.xml + optional CombinedOpenIDConformanceTest cross-module badge.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89120"/>
            <a:ext cx="11183112" cy="786384"/>
          </a:xfrm>
          <a:prstGeom prst="round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2920" y="4389120"/>
            <a:ext cx="68580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Independent 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389120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A Verify skip never blocks the Certify gate — the combined run only adds the summary badge.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57800"/>
            <a:ext cx="11183112" cy="786384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02920" y="5257800"/>
            <a:ext cx="68580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Batteries included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257800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Java ConformanceRunner handles repo discovery, Python resolution, 2-hour timeout, env/property passthrough.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Arial"/>
              </a:rPr>
              <a:t>Why not just write more tests? Because this plugs conformance into the exact reporting MOSIP teams review every day — adoption friction ≈ zero.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STANDARDS &amp; COMPLIANCE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The project IS the standards-alignment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86400" cy="28803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4ED8"/>
                </a:solidFill>
                <a:latin typeface="Arial"/>
              </a:rPr>
              <a:t>Inji Certify · issuer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Consolas"/>
              </a:rPr>
              <a:t>oid4vci-1_0-issuer-test-plan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SD-JWT VC format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private_key_jwt client authentication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DPoP sender constraint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1D4ED8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Pre-authorized-code grant · issuer-initiated 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2452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B5563"/>
                </a:solidFill>
                <a:latin typeface="Arial"/>
              </a:rPr>
              <a:t>9 issuer variants committed as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83080"/>
            <a:ext cx="5486400" cy="2880360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73952" y="19659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59669"/>
                </a:solidFill>
                <a:latin typeface="Arial"/>
              </a:rPr>
              <a:t>Inji Verify · verifier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A2A4A"/>
                </a:solidFill>
                <a:latin typeface="Consolas"/>
              </a:rPr>
              <a:t>oid4vp-1final-verifier-haip-test-plan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43200"/>
            <a:ext cx="4937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SD-JWT VC · direct_post.jwt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DCQL claim constraints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Trust-anchor PEM pinned in config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00" b="1">
                <a:solidFill>
                  <a:srgbClr val="059669"/>
                </a:solidFill>
                <a:latin typeface="Arial"/>
              </a:rPr>
              <a:t>•  </a:t>
            </a:r>
            <a:r>
              <a:rPr sz="1100" b="0">
                <a:solidFill>
                  <a:srgbClr val="111827"/>
                </a:solidFill>
                <a:latin typeface="Arial"/>
              </a:rPr>
              <a:t>2 verifier variants committed as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37760"/>
            <a:ext cx="11183112" cy="1280160"/>
          </a:xfrm>
          <a:prstGeom prst="roundRect">
            <a:avLst/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02920" y="4937760"/>
            <a:ext cx="11183112" cy="68580"/>
          </a:xfrm>
          <a:prstGeom prst="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A"/>
                </a:solidFill>
                <a:latin typeface="Arial"/>
              </a:rPr>
              <a:t>Self-certification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11827"/>
                </a:solidFill>
                <a:latin typeface="Arial"/>
              </a:rPr>
              <a:t>Same committed plan names/variants + exporthtml evidence package — ready for OpenID's "How to Certify Your Implementation" process. Full stack on one bridge network with suite-advertised callback URLs: the configuration certification auditors expect.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TEST CASES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Evidence, not claims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83112" cy="804672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632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Per-module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783080"/>
            <a:ext cx="75895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11827"/>
                </a:solidFill>
                <a:latin typeface="Arial"/>
              </a:rPr>
              <a:t>Every OIDF module gets testId, raw suite status, mapped result, expected/reason metadata in results.json.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70048"/>
            <a:ext cx="11183112" cy="804672"/>
          </a:xfrm>
          <a:prstGeom prst="round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0632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Two-layer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70048"/>
            <a:ext cx="75895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11827"/>
                </a:solidFill>
                <a:latin typeface="Arial"/>
              </a:rPr>
              <a:t>Suite's own HTML export zip (official self-certification evidence) + Extent Spark report (MOSIP-native view).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57015"/>
            <a:ext cx="11183112" cy="804672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557015"/>
            <a:ext cx="30632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Trend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57015"/>
            <a:ext cx="75895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11827"/>
                </a:solidFill>
                <a:latin typeface="Arial"/>
              </a:rPr>
              <a:t>result_diff.py vs results/previous.json → new / regressed / fixed modules per run; CI artifacts on every push &amp; PR.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43984"/>
            <a:ext cx="11183112" cy="804672"/>
          </a:xfrm>
          <a:prstGeom prst="roundRect">
            <a:avLst/>
          </a:prstGeom>
          <a:solidFill>
            <a:srgbClr val="F6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443984"/>
            <a:ext cx="30632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Negative paths — by the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43984"/>
            <a:ext cx="75895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11827"/>
                </a:solidFill>
                <a:latin typeface="Arial"/>
              </a:rPr>
              <a:t>Invalid KB-JWT signature/nonce/aud · iat in past/future · invalid SD hash · invalid credential signature · unknown configuration/identifier · token in query · missing proofs.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30952"/>
            <a:ext cx="11183112" cy="804672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330952"/>
            <a:ext cx="30632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A2A4A"/>
                </a:solidFill>
                <a:latin typeface="Arial"/>
              </a:rPr>
              <a:t>Test data shipped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330952"/>
            <a:ext cx="75895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111827"/>
                </a:solidFill>
                <a:latin typeface="Arial"/>
              </a:rPr>
              <a:t>farmer_identity_data.csv · tx_code 1234 · FarmerCredential configuration · DCQL presentation definitions — all in-repo.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Arial"/>
              </a:rPr>
              <a:t>The benchmark gate output (benchmarkMet + reasons) is itself a test-case summary a jury can read in 10 seconds.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INSTALLATION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For the jury: from clone to conformance report in one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6949440" cy="3200400"/>
          </a:xfrm>
          <a:prstGeom prst="round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64465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9AA2AC"/>
                </a:solidFill>
                <a:latin typeface="Consolas"/>
              </a:rPr>
              <a:t># 1. Prerequisites: Docker Desktop, Python 3.10+, Java 11 + Maven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9AA2AC"/>
                </a:solidFill>
                <a:latin typeface="Consolas"/>
              </a:rPr>
              <a:t># 2. Hosts entry (once):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127.0.0.1 localhost.emobix.co.uk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9AA2AC"/>
                </a:solidFill>
                <a:latin typeface="Consolas"/>
              </a:rPr>
              <a:t># 3. One command: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git clone https://github.com/coderkirt/Testing_for_inji_certify_and_inji-verify.git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cp compose/.env.example compose/.env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./scripts/run-conformance.sh --component certify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9AA2AC"/>
                </a:solidFill>
                <a:latin typeface="Consolas"/>
              </a:rPr>
              <a:t>#    or --combined  ·  Windows: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22D3EE"/>
                </a:solidFill>
                <a:latin typeface="Consolas"/>
              </a:rPr>
              <a:t>.\scripts\run-conformance.ps1 -Combined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9AA2AC"/>
                </a:solidFill>
                <a:latin typeface="Consolas"/>
              </a:rPr>
              <a:t># Point at a deployed env instead: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export ENV_ENDPOINT=... VERIFY_ENDPOINT=... --skip-compose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9AA2AC"/>
                </a:solidFill>
                <a:latin typeface="Consolas"/>
              </a:rPr>
              <a:t># Compare two runs: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python runner/result_diff.py --previous results/previous.json \</a:t>
            </a:r>
          </a:p>
          <a:p>
            <a:pPr algn="l">
              <a:lnSpc>
                <a:spcPct val="118000"/>
              </a:lnSpc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Consolas"/>
              </a:rPr>
              <a:t>   --current results/combined/results.json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62672" y="1783080"/>
            <a:ext cx="4023360" cy="320040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09560" y="193852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2A4A"/>
                </a:solidFill>
                <a:latin typeface="Arial"/>
              </a:rPr>
              <a:t>What you will 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31720"/>
            <a:ext cx="3566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 </a:t>
            </a:r>
            <a:r>
              <a:rPr sz="1050" b="0">
                <a:solidFill>
                  <a:srgbClr val="111827"/>
                </a:solidFill>
                <a:latin typeface="Arial"/>
              </a:rPr>
              <a:t>Compose healthchecks → suite ready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 </a:t>
            </a:r>
            <a:r>
              <a:rPr sz="1050" b="0">
                <a:solidFill>
                  <a:srgbClr val="111827"/>
                </a:solidFill>
                <a:latin typeface="Arial"/>
              </a:rPr>
              <a:t>Module-by-module progress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 </a:t>
            </a:r>
            <a:r>
              <a:rPr sz="1050" b="0">
                <a:solidFill>
                  <a:srgbClr val="111827"/>
                </a:solidFill>
                <a:latin typeface="Arial"/>
              </a:rPr>
              <a:t>Summary JSON + Extent report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 </a:t>
            </a:r>
            <a:r>
              <a:rPr sz="1050" b="0">
                <a:solidFill>
                  <a:srgbClr val="111827"/>
                </a:solidFill>
                <a:latin typeface="Arial"/>
              </a:rPr>
              <a:t>Exit code reflects the benchmark gate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 </a:t>
            </a:r>
            <a:r>
              <a:rPr sz="1050" b="0">
                <a:solidFill>
                  <a:srgbClr val="111827"/>
                </a:solidFill>
                <a:latin typeface="Arial"/>
              </a:rPr>
              <a:t>Docs: architecture · api · handoff · self-certification · troubleshooting (286 lines / 9 docs)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12080"/>
            <a:ext cx="11183112" cy="960120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02920" y="5212080"/>
            <a:ext cx="11183112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59669"/>
                </a:solidFill>
                <a:latin typeface="Arial"/>
              </a:rPr>
              <a:t>Zero-friction evaluation: </a:t>
            </a:r>
            <a:r>
              <a:rPr sz="1200" b="0">
                <a:solidFill>
                  <a:srgbClr val="111827"/>
                </a:solidFill>
                <a:latin typeface="Arial"/>
              </a:rPr>
              <a:t>README quick-start + per-component guides mean jury members can evaluate independently — including on Windows.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IMPACT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Hours of manual testing → one command in 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120640" cy="4160520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120640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59669"/>
                </a:solidFill>
                <a:latin typeface="Arial"/>
              </a:rPr>
              <a:t>Impact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45720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•  </a:t>
            </a:r>
            <a:r>
              <a:rPr sz="1150" b="0">
                <a:solidFill>
                  <a:srgbClr val="111827"/>
                </a:solidFill>
                <a:latin typeface="Arial"/>
              </a:rPr>
              <a:t>Hours of expert manual testing → </a:t>
            </a:r>
            <a:r>
              <a:rPr sz="1150" b="1">
                <a:solidFill>
                  <a:srgbClr val="111827"/>
                </a:solidFill>
                <a:latin typeface="Arial"/>
              </a:rPr>
              <a:t>one command in CI</a:t>
            </a:r>
            <a:r>
              <a:rPr sz="1150" b="0">
                <a:solidFill>
                  <a:srgbClr val="111827"/>
                </a:solidFill>
                <a:latin typeface="Arial"/>
              </a:rPr>
              <a:t>, on every push and PR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•  </a:t>
            </a:r>
            <a:r>
              <a:rPr sz="1150" b="0">
                <a:solidFill>
                  <a:srgbClr val="111827"/>
                </a:solidFill>
                <a:latin typeface="Arial"/>
              </a:rPr>
              <a:t>Spec drift caught at commit time, with </a:t>
            </a:r>
            <a:r>
              <a:rPr sz="1150" b="1">
                <a:solidFill>
                  <a:srgbClr val="111827"/>
                </a:solidFill>
                <a:latin typeface="Arial"/>
              </a:rPr>
              <a:t>root-cause comments</a:t>
            </a:r>
            <a:r>
              <a:rPr sz="1150" b="0">
                <a:solidFill>
                  <a:srgbClr val="111827"/>
                </a:solidFill>
                <a:latin typeface="Arial"/>
              </a:rPr>
              <a:t>, not mystery failures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•  </a:t>
            </a:r>
            <a:r>
              <a:rPr sz="1150" b="0">
                <a:solidFill>
                  <a:srgbClr val="111827"/>
                </a:solidFill>
                <a:latin typeface="Arial"/>
              </a:rPr>
              <a:t>Certification evidence (HTML packages + exact variant matrix) generated automatically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150" b="1">
                <a:solidFill>
                  <a:srgbClr val="059669"/>
                </a:solidFill>
                <a:latin typeface="Arial"/>
              </a:rPr>
              <a:t>•  </a:t>
            </a:r>
            <a:r>
              <a:rPr sz="1150" b="0">
                <a:solidFill>
                  <a:srgbClr val="111827"/>
                </a:solidFill>
                <a:latin typeface="Arial"/>
              </a:rPr>
              <a:t>MOSIP teams keep their TestNG/Extent workflow — </a:t>
            </a:r>
            <a:r>
              <a:rPr sz="1150" b="1">
                <a:solidFill>
                  <a:srgbClr val="111827"/>
                </a:solidFill>
                <a:latin typeface="Arial"/>
              </a:rPr>
              <a:t>zero retraining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33872" y="1783080"/>
            <a:ext cx="5852160" cy="416052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833872" y="1783080"/>
            <a:ext cx="585216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08192" y="19659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4ED8"/>
                </a:solidFill>
                <a:latin typeface="Arial"/>
              </a:rPr>
              <a:t>Next</a:t>
            </a:r>
          </a:p>
        </p:txBody>
      </p:sp>
      <p:sp>
        <p:nvSpPr>
          <p:cNvPr id="14" name="Oval 13"/>
          <p:cNvSpPr/>
          <p:nvPr/>
        </p:nvSpPr>
        <p:spPr>
          <a:xfrm>
            <a:off x="6108192" y="242316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08192" y="24231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4048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Wallet stub service — </a:t>
            </a:r>
            <a:r>
              <a:rPr sz="1100" b="0">
                <a:solidFill>
                  <a:srgbClr val="4B5563"/>
                </a:solidFill>
                <a:latin typeface="Arial"/>
              </a:rPr>
              <a:t>automate the remaining interactive OpenID4VP modules — remove the last skips</a:t>
            </a:r>
          </a:p>
        </p:txBody>
      </p:sp>
      <p:sp>
        <p:nvSpPr>
          <p:cNvPr id="17" name="Oval 16"/>
          <p:cNvSpPr/>
          <p:nvPr/>
        </p:nvSpPr>
        <p:spPr>
          <a:xfrm>
            <a:off x="6108192" y="310896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08192" y="31089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0906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Certify 1.0 field upgrade — </a:t>
            </a:r>
            <a:r>
              <a:rPr sz="1100" b="0">
                <a:solidFill>
                  <a:srgbClr val="4B5563"/>
                </a:solidFill>
                <a:latin typeface="Arial"/>
              </a:rPr>
              <a:t>flip 7 expected failures to real passes when credential_configuration_id support lands</a:t>
            </a:r>
          </a:p>
        </p:txBody>
      </p:sp>
      <p:sp>
        <p:nvSpPr>
          <p:cNvPr id="20" name="Oval 19"/>
          <p:cNvSpPr/>
          <p:nvPr/>
        </p:nvSpPr>
        <p:spPr>
          <a:xfrm>
            <a:off x="6108192" y="379476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08192" y="37947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7764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HAIP 1.0 Final profile — </a:t>
            </a:r>
            <a:r>
              <a:rPr sz="1100" b="0">
                <a:solidFill>
                  <a:srgbClr val="4B5563"/>
                </a:solidFill>
                <a:latin typeface="Arial"/>
              </a:rPr>
              <a:t>request_uri_signed + x509_hash in the Verify pipeline</a:t>
            </a:r>
          </a:p>
        </p:txBody>
      </p:sp>
      <p:sp>
        <p:nvSpPr>
          <p:cNvPr id="23" name="Oval 22"/>
          <p:cNvSpPr/>
          <p:nvPr/>
        </p:nvSpPr>
        <p:spPr>
          <a:xfrm>
            <a:off x="6108192" y="448056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08192" y="4480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4622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Trend dashboard — </a:t>
            </a:r>
            <a:r>
              <a:rPr sz="1100" b="0">
                <a:solidFill>
                  <a:srgbClr val="4B5563"/>
                </a:solidFill>
                <a:latin typeface="Arial"/>
              </a:rPr>
              <a:t>pass-rate history per release across result_diff.json artifacts</a:t>
            </a:r>
          </a:p>
        </p:txBody>
      </p:sp>
      <p:sp>
        <p:nvSpPr>
          <p:cNvPr id="26" name="Oval 25"/>
          <p:cNvSpPr/>
          <p:nvPr/>
        </p:nvSpPr>
        <p:spPr>
          <a:xfrm>
            <a:off x="6108192" y="5166360"/>
            <a:ext cx="310896" cy="31089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08192" y="51663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148072"/>
            <a:ext cx="4983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A2A4A"/>
                </a:solidFill>
                <a:latin typeface="Arial"/>
              </a:rPr>
              <a:t>Official OpenID certification — </a:t>
            </a:r>
            <a:r>
              <a:rPr sz="1100" b="0">
                <a:solidFill>
                  <a:srgbClr val="4B5563"/>
                </a:solidFill>
                <a:latin typeface="Arial"/>
              </a:rPr>
              <a:t>submission for both components via the hosted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82296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Arial"/>
              </a:rPr>
              <a:t>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2A4A"/>
                </a:solidFill>
                <a:latin typeface="Arial"/>
              </a:rPr>
              <a:t>Who gets value on day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86400" cy="19659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6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D4ED8"/>
                </a:solidFill>
                <a:latin typeface="Arial"/>
              </a:rPr>
              <a:t>MOSIP platform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Conformance regressions surface automatically on every Inji release — no expert sweep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828800"/>
            <a:ext cx="5486400" cy="1965960"/>
          </a:xfrm>
          <a:prstGeom prst="roundRect">
            <a:avLst/>
          </a:prstGeom>
          <a:solidFill>
            <a:srgbClr val="E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90488" y="1828800"/>
            <a:ext cx="5486400" cy="685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19088" y="2057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59669"/>
                </a:solidFill>
                <a:latin typeface="Arial"/>
              </a:rPr>
              <a:t>Inji module maintainers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1460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Exact failing spec clause + root cause per module; result diffs make upgrade regressions obvious.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5486400" cy="1965960"/>
          </a:xfrm>
          <a:prstGeom prst="roundRect">
            <a:avLst/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02920" y="3977639"/>
            <a:ext cx="5486400" cy="68580"/>
          </a:xfrm>
          <a:prstGeom prst="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2A4A"/>
                </a:solidFill>
                <a:latin typeface="Arial"/>
              </a:rPr>
              <a:t>OpenID certification 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Committed plan/variant matrix + exported evidence packages map 1:1 to the certification process.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977639"/>
            <a:ext cx="5486400" cy="1965960"/>
          </a:xfrm>
          <a:prstGeom prst="roundRect">
            <a:avLst/>
          </a:prstGeom>
          <a:solidFill>
            <a:srgbClr val="FB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190488" y="3977639"/>
            <a:ext cx="5486400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19088" y="4206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B45309"/>
                </a:solidFill>
                <a:latin typeface="Arial"/>
              </a:rPr>
              <a:t>Government deployments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66344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11827"/>
                </a:solidFill>
                <a:latin typeface="Arial"/>
              </a:rPr>
              <a:t>Any wallet-based credential ecosystem gets reusable, CI-native standards compliance.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B5563"/>
                </a:solidFill>
                <a:latin typeface="Arial"/>
              </a:rPr>
              <a:t>Same harness serves CI robots and certification auditors — orchestration only, so trust is inherited from the official suite.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8368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AutoConform — MOSIP Decode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4375" y="65836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AA2A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" name="Oval 5"/>
          <p:cNvSpPr/>
          <p:nvPr/>
        </p:nvSpPr>
        <p:spPr>
          <a:xfrm>
            <a:off x="9692640" y="-914400"/>
            <a:ext cx="4389120" cy="4389120"/>
          </a:xfrm>
          <a:prstGeom prst="ellipse">
            <a:avLst/>
          </a:prstGeom>
          <a:solidFill>
            <a:srgbClr val="0D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Arial"/>
              </a:rPr>
              <a:t>CONFORMANCE AS CODE FOR THE INJI CREDENTIAL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Thank you — 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291840"/>
            <a:ext cx="6583680" cy="566928"/>
          </a:xfrm>
          <a:prstGeom prst="round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63240" y="3291840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D3EE"/>
                </a:solidFill>
                <a:latin typeface="Arial"/>
              </a:rPr>
              <a:t>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t>github.com/upadhyayaditya7/Testing_for_inji_certify_and_inji-verify — full commit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4005072"/>
            <a:ext cx="6583680" cy="566928"/>
          </a:xfrm>
          <a:prstGeom prst="round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63240" y="4005072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D3EE"/>
                </a:solidFill>
                <a:latin typeface="Arial"/>
              </a:rPr>
              <a:t>Demo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05072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t>2–5 min live walkthrough · storyboard = Slide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4718304"/>
            <a:ext cx="6583680" cy="566928"/>
          </a:xfrm>
          <a:prstGeom prst="roundRect">
            <a:avLst/>
          </a:prstGeom>
          <a:solidFill>
            <a:srgbClr val="12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63240" y="4718304"/>
            <a:ext cx="16459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2D3EE"/>
                </a:solidFill>
                <a:latin typeface="Arial"/>
              </a:rPr>
              <a:t>Evidence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71830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7D8EC"/>
                </a:solidFill>
                <a:latin typeface="Arial"/>
              </a:rPr>
              <a:t>results.json · Extent report · suite HTML exports · diff.json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FA6BC"/>
                </a:solidFill>
                <a:latin typeface="Arial"/>
              </a:rPr>
              <a:t>AutoConform · Team FSD · MOSIP Decode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